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+E7TjA/WSWII7a2FclezJhX8o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1E4995-47C8-4D4B-90EE-0D77C94B0FA2}">
  <a:tblStyle styleId="{EC1E4995-47C8-4D4B-90EE-0D77C94B0F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1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e0a05f310_1_0:notes"/>
          <p:cNvSpPr txBox="1"/>
          <p:nvPr>
            <p:ph idx="1" type="body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e0a05f310_1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0a05f310_1_21:notes"/>
          <p:cNvSpPr txBox="1"/>
          <p:nvPr>
            <p:ph idx="1" type="body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e0a05f310_1_2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207147" y="262785"/>
            <a:ext cx="9491707" cy="637955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3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8" name="Google Shape;28;p23"/>
          <p:cNvCxnSpPr/>
          <p:nvPr/>
        </p:nvCxnSpPr>
        <p:spPr>
          <a:xfrm>
            <a:off x="675879" y="3045204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5" name="Google Shape;35;p24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41" name="Google Shape;41;p25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solidFill>
            <a:srgbClr val="222A3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400"/>
              <a:buAutoNum type="arabicPeriod"/>
              <a:defRPr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48" name="Google Shape;48;p26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콘텐츠 2개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681038" y="1151169"/>
            <a:ext cx="8543924" cy="1060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681038" y="2321634"/>
            <a:ext cx="8543925" cy="3892551"/>
          </a:xfrm>
          <a:prstGeom prst="rect">
            <a:avLst/>
          </a:prstGeom>
          <a:solidFill>
            <a:srgbClr val="222A3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400"/>
              <a:buAutoNum type="arabicPeriod"/>
              <a:defRPr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56" name="Google Shape;56;p27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>
  <p:cSld name="콘텐츠 2개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" type="body"/>
          </p:nvPr>
        </p:nvSpPr>
        <p:spPr>
          <a:xfrm>
            <a:off x="681038" y="1087542"/>
            <a:ext cx="4210050" cy="5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2" type="body"/>
          </p:nvPr>
        </p:nvSpPr>
        <p:spPr>
          <a:xfrm>
            <a:off x="5014913" y="1087542"/>
            <a:ext cx="4210050" cy="5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64" name="Google Shape;64;p28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콘텐츠 2개">
  <p:cSld name="1_콘텐츠 2개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681038" y="1151168"/>
            <a:ext cx="4210050" cy="5025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5014913" y="1151168"/>
            <a:ext cx="4210050" cy="5025795"/>
          </a:xfrm>
          <a:prstGeom prst="rect">
            <a:avLst/>
          </a:prstGeom>
          <a:solidFill>
            <a:srgbClr val="222A3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400"/>
              <a:buAutoNum type="arabicPeriod"/>
              <a:defRPr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72" name="Google Shape;72;p29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682328" y="365127"/>
            <a:ext cx="8543925" cy="682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682329" y="1271588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682329" y="2095500"/>
            <a:ext cx="4190702" cy="40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3" type="body"/>
          </p:nvPr>
        </p:nvSpPr>
        <p:spPr>
          <a:xfrm>
            <a:off x="5014913" y="1271588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30"/>
          <p:cNvSpPr txBox="1"/>
          <p:nvPr>
            <p:ph idx="4" type="body"/>
          </p:nvPr>
        </p:nvSpPr>
        <p:spPr>
          <a:xfrm>
            <a:off x="5014913" y="2095500"/>
            <a:ext cx="4211340" cy="40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1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742950" y="1122363"/>
            <a:ext cx="8420100" cy="185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ko-KR" sz="4800"/>
              <a:t>WCS 화면 정의서</a:t>
            </a:r>
            <a:endParaRPr sz="48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38250" y="3410014"/>
            <a:ext cx="7429500" cy="2304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2025년 03월 04일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성병문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코봇시스템(주)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ko-KR"/>
              <a:t>기능 정의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 </a:t>
            </a:r>
            <a:endParaRPr/>
          </a:p>
        </p:txBody>
      </p:sp>
      <p:sp>
        <p:nvSpPr>
          <p:cNvPr id="98" name="Google Shape;98;p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99" name="Google Shape;99;p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 개요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WCS는 각 바퀴 모듈(모터, 드라이버, ToF 센서 포함)을 제어하고,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상태를 모니터링하며, 파라미터 설정 및 테스트 기능을 제공하는 통합 제어 시스템이다.</a:t>
            </a:r>
            <a:endParaRPr sz="2400"/>
          </a:p>
        </p:txBody>
      </p:sp>
      <p:sp>
        <p:nvSpPr>
          <p:cNvPr id="107" name="Google Shape;107;p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08" name="Google Shape;108;p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 개요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휠체어, 로봇시스템, 물류 장비 등의 운영 시스템과 인터페이스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저전력 On Device AI보드와 연동하여 안전 운행 확보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UI에서 사용자 설정으로  맞춤형 주행 가능 WCS개발 </a:t>
            </a:r>
            <a:endParaRPr sz="2400"/>
          </a:p>
        </p:txBody>
      </p:sp>
      <p:sp>
        <p:nvSpPr>
          <p:cNvPr id="116" name="Google Shape;116;p4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17" name="Google Shape;117;p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 개요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장치 인터페이스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Wheelchair, ROS, 물류장비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On Device AI 연동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미인지 장애물 처리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스마트 토크 제어 및 횡단경사제어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사용자 인터페이스 개발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AI 모드 설정,  제어 설정, 장비 설정</a:t>
            </a:r>
            <a:endParaRPr/>
          </a:p>
          <a:p>
            <a:pPr indent="-3619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25" name="Google Shape;125;p5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26" name="Google Shape;126;p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27" name="Google Shape;127;p5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기능 정의서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/>
              <a:t>웹 기반으로 제어보드(오렌지파이)에서 전동휠 4개를 설정 및  모니터링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/>
              <a:t>4개의 바퀴를 모니터링(WebGL 사용)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미라클 휠 3D 모델을 기반으로 urdf 작성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/>
              <a:t>바퀴의 각속도, 속도, 위치, ToF 센서 값에 따른 바닥 거리 표시</a:t>
            </a:r>
            <a:endParaRPr/>
          </a:p>
        </p:txBody>
      </p:sp>
      <p:sp>
        <p:nvSpPr>
          <p:cNvPr id="134" name="Google Shape;134;p6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35" name="Google Shape;135;p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기능 정의서</a:t>
            </a:r>
            <a:endParaRPr/>
          </a:p>
        </p:txBody>
      </p:sp>
      <p:sp>
        <p:nvSpPr>
          <p:cNvPr id="142" name="Google Shape;142;p7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43" name="Google Shape;143;p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1600"/>
              <a:t>바퀴 상태 표출 화면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현재 속도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각 바퀴에 걸리는 토크 값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ToF 센서 값</a:t>
            </a:r>
            <a:endParaRPr sz="16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주행중인 노면 상태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배터리 잔량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1600"/>
              <a:t>바퀴 설정 화면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바퀴 RS485 주소 변경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바퀴 위치 설정 (전후좌우)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최고 속도 설정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PID gain 값 설정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ToF 센서 캘리브레이션 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1600"/>
              <a:t>테스트 화면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개별 모터 동작 테스트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600"/>
              <a:t>모터 4개 직진 후진, 축 회전 테스트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ko-KR"/>
              <a:t>화면 정의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 </a:t>
            </a:r>
            <a:endParaRPr/>
          </a:p>
        </p:txBody>
      </p:sp>
      <p:sp>
        <p:nvSpPr>
          <p:cNvPr id="152" name="Google Shape;152;p8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53" name="Google Shape;153;p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상태 모니터 화면</a:t>
            </a:r>
            <a:endParaRPr/>
          </a:p>
        </p:txBody>
      </p:sp>
      <p:pic>
        <p:nvPicPr>
          <p:cNvPr id="160" name="Google Shape;160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968" y="1446699"/>
            <a:ext cx="5972065" cy="453927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62" name="Google Shape;162;p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63" name="Google Shape;163;p9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e0a05f310_1_0"/>
          <p:cNvSpPr txBox="1"/>
          <p:nvPr>
            <p:ph type="title"/>
          </p:nvPr>
        </p:nvSpPr>
        <p:spPr>
          <a:xfrm>
            <a:off x="1897199" y="365125"/>
            <a:ext cx="76323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상태 모니터 화면</a:t>
            </a:r>
            <a:endParaRPr/>
          </a:p>
        </p:txBody>
      </p:sp>
      <p:pic>
        <p:nvPicPr>
          <p:cNvPr id="169" name="Google Shape;169;g3ce0a05f310_1_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200" y="1287975"/>
            <a:ext cx="5151300" cy="46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ce0a05f310_1_0"/>
          <p:cNvSpPr txBox="1"/>
          <p:nvPr>
            <p:ph idx="10" type="dt"/>
          </p:nvPr>
        </p:nvSpPr>
        <p:spPr>
          <a:xfrm>
            <a:off x="681038" y="6356352"/>
            <a:ext cx="116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71" name="Google Shape;171;g3ce0a05f310_1_0"/>
          <p:cNvSpPr txBox="1"/>
          <p:nvPr>
            <p:ph idx="11" type="ftr"/>
          </p:nvPr>
        </p:nvSpPr>
        <p:spPr>
          <a:xfrm>
            <a:off x="3281363" y="6356352"/>
            <a:ext cx="33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72" name="Google Shape;172;g3ce0a05f310_1_0"/>
          <p:cNvSpPr txBox="1"/>
          <p:nvPr>
            <p:ph idx="12" type="sldNum"/>
          </p:nvPr>
        </p:nvSpPr>
        <p:spPr>
          <a:xfrm>
            <a:off x="8739554" y="6356352"/>
            <a:ext cx="48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73" name="Google Shape;173;g3ce0a05f310_1_0"/>
          <p:cNvSpPr/>
          <p:nvPr/>
        </p:nvSpPr>
        <p:spPr>
          <a:xfrm>
            <a:off x="388750" y="1555000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Times New Roman"/>
                <a:ea typeface="Times New Roman"/>
                <a:cs typeface="Times New Roman"/>
                <a:sym typeface="Times New Roman"/>
              </a:rPr>
              <a:t>자갈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ce0a05f310_1_0"/>
          <p:cNvSpPr/>
          <p:nvPr/>
        </p:nvSpPr>
        <p:spPr>
          <a:xfrm>
            <a:off x="388750" y="2272700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Times New Roman"/>
                <a:ea typeface="Times New Roman"/>
                <a:cs typeface="Times New Roman"/>
                <a:sym typeface="Times New Roman"/>
              </a:rPr>
              <a:t>미끄러운노면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3ce0a05f310_1_0"/>
          <p:cNvSpPr/>
          <p:nvPr/>
        </p:nvSpPr>
        <p:spPr>
          <a:xfrm>
            <a:off x="388750" y="306017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Times New Roman"/>
                <a:ea typeface="Times New Roman"/>
                <a:cs typeface="Times New Roman"/>
                <a:sym typeface="Times New Roman"/>
              </a:rPr>
              <a:t>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3ce0a05f310_1_0"/>
          <p:cNvSpPr/>
          <p:nvPr/>
        </p:nvSpPr>
        <p:spPr>
          <a:xfrm>
            <a:off x="388750" y="3847650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Times New Roman"/>
                <a:ea typeface="Times New Roman"/>
                <a:cs typeface="Times New Roman"/>
                <a:sym typeface="Times New Roman"/>
              </a:rPr>
              <a:t>장애물1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ce0a05f310_1_0"/>
          <p:cNvSpPr/>
          <p:nvPr/>
        </p:nvSpPr>
        <p:spPr>
          <a:xfrm>
            <a:off x="388750" y="463512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장애물2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ce0a05f310_1_0"/>
          <p:cNvSpPr/>
          <p:nvPr/>
        </p:nvSpPr>
        <p:spPr>
          <a:xfrm>
            <a:off x="388750" y="5422600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장애물3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ce0a05f310_1_0"/>
          <p:cNvSpPr/>
          <p:nvPr/>
        </p:nvSpPr>
        <p:spPr>
          <a:xfrm>
            <a:off x="7196925" y="1287975"/>
            <a:ext cx="22290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Times New Roman"/>
                <a:ea typeface="Times New Roman"/>
                <a:cs typeface="Times New Roman"/>
                <a:sym typeface="Times New Roman"/>
              </a:rPr>
              <a:t>노면상태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ce0a05f310_1_0"/>
          <p:cNvSpPr/>
          <p:nvPr/>
        </p:nvSpPr>
        <p:spPr>
          <a:xfrm>
            <a:off x="7196925" y="1856150"/>
            <a:ext cx="2229000" cy="12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ce0a05f310_1_0"/>
          <p:cNvSpPr/>
          <p:nvPr/>
        </p:nvSpPr>
        <p:spPr>
          <a:xfrm>
            <a:off x="7196925" y="3899600"/>
            <a:ext cx="22290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Times New Roman"/>
                <a:ea typeface="Times New Roman"/>
                <a:cs typeface="Times New Roman"/>
                <a:sym typeface="Times New Roman"/>
              </a:rPr>
              <a:t>제어상태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g3ce0a05f310_1_0"/>
          <p:cNvSpPr/>
          <p:nvPr/>
        </p:nvSpPr>
        <p:spPr>
          <a:xfrm>
            <a:off x="7196925" y="4467775"/>
            <a:ext cx="2229000" cy="144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g3ce0a05f310_1_0"/>
          <p:cNvSpPr/>
          <p:nvPr/>
        </p:nvSpPr>
        <p:spPr>
          <a:xfrm>
            <a:off x="1981213" y="605057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배터리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g3ce0a05f310_1_0"/>
          <p:cNvSpPr/>
          <p:nvPr/>
        </p:nvSpPr>
        <p:spPr>
          <a:xfrm>
            <a:off x="3874063" y="600177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속도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g3ce0a05f310_1_0"/>
          <p:cNvSpPr/>
          <p:nvPr/>
        </p:nvSpPr>
        <p:spPr>
          <a:xfrm>
            <a:off x="5766900" y="611142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경사도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e0a05f310_1_21"/>
          <p:cNvSpPr txBox="1"/>
          <p:nvPr>
            <p:ph type="title"/>
          </p:nvPr>
        </p:nvSpPr>
        <p:spPr>
          <a:xfrm>
            <a:off x="681038" y="365128"/>
            <a:ext cx="8544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</a:t>
            </a:r>
            <a:endParaRPr/>
          </a:p>
        </p:txBody>
      </p:sp>
      <p:sp>
        <p:nvSpPr>
          <p:cNvPr id="191" name="Google Shape;191;g3ce0a05f310_1_21"/>
          <p:cNvSpPr txBox="1"/>
          <p:nvPr>
            <p:ph idx="10" type="dt"/>
          </p:nvPr>
        </p:nvSpPr>
        <p:spPr>
          <a:xfrm>
            <a:off x="681038" y="6356352"/>
            <a:ext cx="116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92" name="Google Shape;192;g3ce0a05f310_1_21"/>
          <p:cNvSpPr txBox="1"/>
          <p:nvPr>
            <p:ph idx="11" type="ftr"/>
          </p:nvPr>
        </p:nvSpPr>
        <p:spPr>
          <a:xfrm>
            <a:off x="4070838" y="6356352"/>
            <a:ext cx="202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93" name="Google Shape;193;g3ce0a05f310_1_21"/>
          <p:cNvSpPr txBox="1"/>
          <p:nvPr>
            <p:ph idx="12" type="sldNum"/>
          </p:nvPr>
        </p:nvSpPr>
        <p:spPr>
          <a:xfrm>
            <a:off x="8739554" y="6356352"/>
            <a:ext cx="48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94" name="Google Shape;194;g3ce0a05f310_1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8922" y="485405"/>
            <a:ext cx="5994800" cy="423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g3ce0a05f310_1_21"/>
          <p:cNvGrpSpPr/>
          <p:nvPr/>
        </p:nvGrpSpPr>
        <p:grpSpPr>
          <a:xfrm>
            <a:off x="-2357469" y="1087605"/>
            <a:ext cx="9343067" cy="5141871"/>
            <a:chOff x="5350506" y="2028116"/>
            <a:chExt cx="3631478" cy="1830760"/>
          </a:xfrm>
        </p:grpSpPr>
        <p:pic>
          <p:nvPicPr>
            <p:cNvPr id="196" name="Google Shape;196;g3ce0a05f310_1_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50508" y="2247299"/>
              <a:ext cx="1765301" cy="805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g3ce0a05f310_1_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50506" y="3053087"/>
              <a:ext cx="1765302" cy="7953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g3ce0a05f310_1_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26121" y="2770220"/>
              <a:ext cx="1255863" cy="1088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g3ce0a05f310_1_21"/>
            <p:cNvSpPr txBox="1"/>
            <p:nvPr/>
          </p:nvSpPr>
          <p:spPr>
            <a:xfrm>
              <a:off x="5670584" y="2028116"/>
              <a:ext cx="11628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025" lIns="200150" spcFirstLastPara="1" rIns="200150" wrap="square" tIns="100025">
              <a:spAutoFit/>
            </a:bodyPr>
            <a:lstStyle/>
            <a:p>
              <a:pPr indent="0" lvl="2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62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&lt;세부 화면&gt;</a:t>
              </a:r>
              <a:endParaRPr sz="3064"/>
            </a:p>
          </p:txBody>
        </p:sp>
        <p:sp>
          <p:nvSpPr>
            <p:cNvPr id="200" name="Google Shape;200;g3ce0a05f310_1_21"/>
            <p:cNvSpPr txBox="1"/>
            <p:nvPr/>
          </p:nvSpPr>
          <p:spPr>
            <a:xfrm>
              <a:off x="7325871" y="2028116"/>
              <a:ext cx="14532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025" lIns="200150" spcFirstLastPara="1" rIns="200150" wrap="square" tIns="100025">
              <a:spAutoFit/>
            </a:bodyPr>
            <a:lstStyle/>
            <a:p>
              <a:pPr indent="0" lvl="2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62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&lt;3D 모션 설정&gt;</a:t>
              </a:r>
              <a:endParaRPr sz="3064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ko-KR" sz="3200"/>
              <a:t>바퀴 상태 모니터 화면 (Monitoring Screen)</a:t>
            </a:r>
            <a:endParaRPr/>
          </a:p>
        </p:txBody>
      </p:sp>
      <p:sp>
        <p:nvSpPr>
          <p:cNvPr id="206" name="Google Shape;206;p10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07" name="Google Shape;207;p1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08" name="Google Shape;208;p10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aphicFrame>
        <p:nvGraphicFramePr>
          <p:cNvPr id="209" name="Google Shape;209;p10"/>
          <p:cNvGraphicFramePr/>
          <p:nvPr/>
        </p:nvGraphicFramePr>
        <p:xfrm>
          <a:off x="681037" y="3808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{EC1E4995-47C8-4D4B-90EE-0D77C94B0FA2}</a:tableStyleId>
              </a:tblPr>
              <a:tblGrid>
                <a:gridCol w="2310725"/>
                <a:gridCol w="6233175"/>
              </a:tblGrid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표시 항목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기능 정의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현재 속도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전체 주행 속도 (m/s 또는 km/h)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각 바퀴 토크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FL, FR, RL, RR 개별 토크 값 (Nm)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ToF 센서 값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노면 거리 값 (mm)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노면 상태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ToF 기반 노면 분류 (평지/단차/경사/장애물)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배터리 잔량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SoC(%) 및 전압 표시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10" name="Google Shape;210;p10"/>
          <p:cNvSpPr txBox="1"/>
          <p:nvPr>
            <p:ph idx="1" type="body"/>
          </p:nvPr>
        </p:nvSpPr>
        <p:spPr>
          <a:xfrm>
            <a:off x="681038" y="1255271"/>
            <a:ext cx="8543925" cy="2380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목적 : 실시간 주행 상태 및 바퀴 상태 모니터링</a:t>
            </a:r>
            <a:endParaRPr sz="20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기능 요구사항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50~100ms 주기 업데이트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통신 오류 시 경고 표시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토크 이상 시 경고 색상 표시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저전압 시 알람 발생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설정 화면</a:t>
            </a:r>
            <a:endParaRPr/>
          </a:p>
        </p:txBody>
      </p:sp>
      <p:pic>
        <p:nvPicPr>
          <p:cNvPr id="216" name="Google Shape;21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898" y="1635739"/>
            <a:ext cx="5452204" cy="416119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18" name="Google Shape;218;p1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19" name="Google Shape;219;p11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ko-KR" sz="3200"/>
              <a:t>바퀴 설정 화면 (Configuration Screen) (1/2)</a:t>
            </a:r>
            <a:endParaRPr/>
          </a:p>
        </p:txBody>
      </p:sp>
      <p:sp>
        <p:nvSpPr>
          <p:cNvPr id="225" name="Google Shape;225;p1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26" name="Google Shape;226;p1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27" name="Google Shape;227;p1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28" name="Google Shape;228;p12"/>
          <p:cNvSpPr txBox="1"/>
          <p:nvPr>
            <p:ph idx="1" type="body"/>
          </p:nvPr>
        </p:nvSpPr>
        <p:spPr>
          <a:xfrm>
            <a:off x="681038" y="1255271"/>
            <a:ext cx="8543925" cy="4941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목적 : 각 바퀴 노드의 제어 파라미터 설정</a:t>
            </a:r>
            <a:endParaRPr sz="20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바퀴 RS485 주소 변경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각 Wheel Node 고유 ID 설정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주소 충돌 감지 기능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변경 후 재부팅 적용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바퀴 위치 설정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위치 옵션 :Front Left, Front Right, Rear Left, Rear Right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위치 설정 시 내부 제어 방향 자동 매핑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방향 반전 옵션 포함</a:t>
            </a:r>
            <a:endParaRPr sz="20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최고 속도 설정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각 바퀴별 또는 전체 공통 설정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제한 범위: 0 ~ Max_System_Speed 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ko-KR" sz="3200"/>
              <a:t>바퀴 설정 화면 (Configuration Screen) (2/2)</a:t>
            </a:r>
            <a:endParaRPr/>
          </a:p>
        </p:txBody>
      </p:sp>
      <p:sp>
        <p:nvSpPr>
          <p:cNvPr id="234" name="Google Shape;234;p1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35" name="Google Shape;235;p1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36" name="Google Shape;236;p1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37" name="Google Shape;237;p13"/>
          <p:cNvSpPr txBox="1"/>
          <p:nvPr>
            <p:ph idx="1" type="body"/>
          </p:nvPr>
        </p:nvSpPr>
        <p:spPr>
          <a:xfrm>
            <a:off x="681038" y="1255271"/>
            <a:ext cx="8543925" cy="4941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ko-KR" sz="2000"/>
              <a:t> PID Gain 설정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Speed PID : Kp, Ki, Kd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Torque PID (옵션)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실시간 튜닝 모드 지원</a:t>
            </a:r>
            <a:endParaRPr sz="20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5"/>
            </a:pPr>
            <a:r>
              <a:rPr lang="ko-KR" sz="2000"/>
              <a:t>ToF 센서 캘리브레이션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Zero offset calibration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Ground reference calibration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노면 기준 거리 저장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캘리브레이션 데이터 저장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테스트 화면</a:t>
            </a:r>
            <a:endParaRPr/>
          </a:p>
        </p:txBody>
      </p:sp>
      <p:pic>
        <p:nvPicPr>
          <p:cNvPr id="243" name="Google Shape;24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371" y="1653030"/>
            <a:ext cx="5475258" cy="412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45" name="Google Shape;245;p1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46" name="Google Shape;246;p14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테스트 화면 (Test Screen)</a:t>
            </a:r>
            <a:endParaRPr/>
          </a:p>
        </p:txBody>
      </p:sp>
      <p:sp>
        <p:nvSpPr>
          <p:cNvPr id="252" name="Google Shape;252;p15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목적 : 설치 및 유지보수 시 모터 및 구동 기능 점검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개별 모터 테스트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FL / FR / RL / RR 개별 구동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속도 단계별 테스트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토크 출력 확인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엔코더 피드백 확인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4개 모터 동작 테스트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직진 : 4개 동일 속도 전진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후진 : 4개 동일 속도 후진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제자리 회전 : 좌우 차속 차이 이용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회전 : 중심축 기준 회전</a:t>
            </a:r>
            <a:endParaRPr sz="2400"/>
          </a:p>
          <a:p>
            <a:pPr indent="-3619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53" name="Google Shape;253;p15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54" name="Google Shape;254;p1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55" name="Google Shape;255;p15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ko-KR"/>
              <a:t>참고</a:t>
            </a:r>
            <a:endParaRPr/>
          </a:p>
        </p:txBody>
      </p:sp>
      <p:sp>
        <p:nvSpPr>
          <p:cNvPr id="261" name="Google Shape;261;p16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참고 자료</a:t>
            </a:r>
            <a:endParaRPr/>
          </a:p>
        </p:txBody>
      </p:sp>
      <p:sp>
        <p:nvSpPr>
          <p:cNvPr id="262" name="Google Shape;262;p16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63" name="Google Shape;263;p1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64" name="Google Shape;264;p16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</a:t>
            </a:r>
            <a:endParaRPr/>
          </a:p>
        </p:txBody>
      </p:sp>
      <p:sp>
        <p:nvSpPr>
          <p:cNvPr id="270" name="Google Shape;270;p17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71" name="Google Shape;271;p17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72" name="Google Shape;272;p17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73" name="Google Shape;2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553" y="710305"/>
            <a:ext cx="5994800" cy="423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17"/>
          <p:cNvGrpSpPr/>
          <p:nvPr/>
        </p:nvGrpSpPr>
        <p:grpSpPr>
          <a:xfrm>
            <a:off x="189538" y="-512892"/>
            <a:ext cx="12250792" cy="6742321"/>
            <a:chOff x="5350506" y="2028116"/>
            <a:chExt cx="3631478" cy="1830760"/>
          </a:xfrm>
        </p:grpSpPr>
        <p:pic>
          <p:nvPicPr>
            <p:cNvPr id="275" name="Google Shape;27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50508" y="2247299"/>
              <a:ext cx="1765301" cy="805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50506" y="3053087"/>
              <a:ext cx="1765302" cy="7953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26121" y="2770220"/>
              <a:ext cx="1255863" cy="1088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17"/>
            <p:cNvSpPr txBox="1"/>
            <p:nvPr/>
          </p:nvSpPr>
          <p:spPr>
            <a:xfrm>
              <a:off x="5670584" y="2028116"/>
              <a:ext cx="11628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175" lIns="262425" spcFirstLastPara="1" rIns="262425" wrap="square" tIns="131175">
              <a:spAutoFit/>
            </a:bodyPr>
            <a:lstStyle/>
            <a:p>
              <a:pPr indent="0" lvl="2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444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&lt;세부 화면&gt;</a:t>
              </a:r>
              <a:endParaRPr sz="4018"/>
            </a:p>
          </p:txBody>
        </p:sp>
        <p:sp>
          <p:nvSpPr>
            <p:cNvPr id="279" name="Google Shape;279;p17"/>
            <p:cNvSpPr txBox="1"/>
            <p:nvPr/>
          </p:nvSpPr>
          <p:spPr>
            <a:xfrm>
              <a:off x="7325871" y="2028116"/>
              <a:ext cx="14532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175" lIns="262425" spcFirstLastPara="1" rIns="262425" wrap="square" tIns="131175">
              <a:spAutoFit/>
            </a:bodyPr>
            <a:lstStyle/>
            <a:p>
              <a:pPr indent="0" lvl="2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444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&lt;3D 모션 설정&gt;</a:t>
              </a:r>
              <a:endParaRPr sz="4018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주요 기능</a:t>
            </a:r>
            <a:endParaRPr/>
          </a:p>
        </p:txBody>
      </p:sp>
      <p:sp>
        <p:nvSpPr>
          <p:cNvPr id="285" name="Google Shape;285;p18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센서 데이터 융합 처리 기술을 위한 Sensor Setting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Kalman Filter로 여러 센서 데이터를 통합하여 노이즈 제거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노면 데이터를 바탕으로 RNN이 노이즈를 학습하고 이를 칼만 필터의 업데이트 단계에 반영.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MPU-6050(IMU센서), Magnetic Encoder, ToF, Current Sensor 사용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노면상태 예측을 통한 최적 제어 엑추에이터 설정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LSTM: 시계열 데이터(IMU, 엔코더)를 활용한 노면 예측.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노면 상태를 실시간으로 분류 (예: 평지, 젖은 노면, 얼음, 경사 등).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마찰 계수 μ를 예측하여 바퀴의 미끄럼 여부를 감지.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엑추에이터 최적 제어에 사용</a:t>
            </a:r>
            <a:endParaRPr/>
          </a:p>
          <a:p>
            <a:pPr indent="-387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86" name="Google Shape;286;p18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87" name="Google Shape;287;p1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88" name="Google Shape;288;p18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핵심 기능</a:t>
            </a:r>
            <a:endParaRPr/>
          </a:p>
        </p:txBody>
      </p:sp>
      <p:sp>
        <p:nvSpPr>
          <p:cNvPr id="294" name="Google Shape;294;p19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AI 횡단경사로 균형 유지 제어 기술이 적용된 AI 주행모드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8도 이상 횡단경사로 주행 시 전복 위험이 높음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GRU(Gated Recurrent Unit)를 사용하여 시계열 데이터를 기반으로 전복 위험성을 예측.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횡단경사로 환경을 실시간으로 AI가 동작하여 전복 시 전복방향으로 제자리 회전하여 전복을 방지하는 기술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미인지 장애물 극복 제어기술을 위한 Sensor Fusion기술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장애물 감지 센서가 고장 나거나 데이터를 제공하지 못하는 경우 AI가 다른 센서 데이터를 활용하여 예측하는 기술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Kalman Filter를 사용하여 예측 값과 실제 측정값의 차이(잔차, Residual)가 크거나 일정 패턴을 벗어나는 경우, 측정 데이터를 융합하여 상태를 추정</a:t>
            </a:r>
            <a:endParaRPr/>
          </a:p>
          <a:p>
            <a:pPr indent="-387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95" name="Google Shape;295;p19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96" name="Google Shape;296;p1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97" name="Google Shape;297;p19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>
            <p:ph type="title"/>
          </p:nvPr>
        </p:nvSpPr>
        <p:spPr>
          <a:xfrm>
            <a:off x="681038" y="234339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끝.</a:t>
            </a:r>
            <a:endParaRPr/>
          </a:p>
        </p:txBody>
      </p:sp>
      <p:sp>
        <p:nvSpPr>
          <p:cNvPr id="303" name="Google Shape;303;p20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04" name="Google Shape;304;p20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305" name="Google Shape;305;p20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WCS 화면정의서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2018-03-04T04:23:51Z</dcterms:created>
  <dc:creator>admin</dc:creator>
</cp:coreProperties>
</file>