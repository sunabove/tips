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990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gtdfra75yMSLAxCGSFyPiIjLwm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7056A1-6E00-4562-AA8A-41F5505B3310}">
  <a:tblStyle styleId="{E27056A1-6E00-4562-AA8A-41F5505B331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fill>
          <a:solidFill>
            <a:srgbClr val="D0DE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EEF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1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1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2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3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e0a05f310_1_0:notes"/>
          <p:cNvSpPr txBox="1"/>
          <p:nvPr>
            <p:ph idx="1" type="body"/>
          </p:nvPr>
        </p:nvSpPr>
        <p:spPr>
          <a:xfrm>
            <a:off x="685800" y="4400549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g3ce0a05f310_1_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1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1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1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5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15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1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6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1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17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3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4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p3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8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p18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9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1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0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p2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/>
          <p:nvPr/>
        </p:nvSpPr>
        <p:spPr>
          <a:xfrm>
            <a:off x="207147" y="262785"/>
            <a:ext cx="9491707" cy="6379555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r>
              <a:t/>
            </a:r>
            <a:endParaRPr b="0" i="0" sz="1463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3"/>
          <p:cNvSpPr txBox="1"/>
          <p:nvPr>
            <p:ph type="title"/>
          </p:nvPr>
        </p:nvSpPr>
        <p:spPr>
          <a:xfrm>
            <a:off x="675879" y="1986577"/>
            <a:ext cx="8543925" cy="10586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" type="body"/>
          </p:nvPr>
        </p:nvSpPr>
        <p:spPr>
          <a:xfrm>
            <a:off x="675879" y="3171039"/>
            <a:ext cx="8543925" cy="2918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23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28" name="Google Shape;28;p23"/>
          <p:cNvCxnSpPr/>
          <p:nvPr/>
        </p:nvCxnSpPr>
        <p:spPr>
          <a:xfrm>
            <a:off x="675879" y="3045204"/>
            <a:ext cx="8543925" cy="0"/>
          </a:xfrm>
          <a:prstGeom prst="straightConnector1">
            <a:avLst/>
          </a:prstGeom>
          <a:noFill/>
          <a:ln cap="flat" cmpd="sng" w="25400">
            <a:solidFill>
              <a:srgbClr val="D2472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4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" type="body"/>
          </p:nvPr>
        </p:nvSpPr>
        <p:spPr>
          <a:xfrm>
            <a:off x="681038" y="1255271"/>
            <a:ext cx="8543925" cy="4921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35" name="Google Shape;35;p24"/>
          <p:cNvCxnSpPr/>
          <p:nvPr/>
        </p:nvCxnSpPr>
        <p:spPr>
          <a:xfrm>
            <a:off x="681038" y="1087542"/>
            <a:ext cx="8543925" cy="0"/>
          </a:xfrm>
          <a:prstGeom prst="straightConnector1">
            <a:avLst/>
          </a:prstGeom>
          <a:noFill/>
          <a:ln cap="flat" cmpd="sng" w="25400">
            <a:solidFill>
              <a:srgbClr val="D2472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1" type="ftr"/>
          </p:nvPr>
        </p:nvSpPr>
        <p:spPr>
          <a:xfrm>
            <a:off x="4070838" y="6356352"/>
            <a:ext cx="20222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41" name="Google Shape;41;p25"/>
          <p:cNvCxnSpPr/>
          <p:nvPr/>
        </p:nvCxnSpPr>
        <p:spPr>
          <a:xfrm>
            <a:off x="681038" y="1087542"/>
            <a:ext cx="8543925" cy="0"/>
          </a:xfrm>
          <a:prstGeom prst="straightConnector1">
            <a:avLst/>
          </a:prstGeom>
          <a:noFill/>
          <a:ln cap="flat" cmpd="sng" w="25400">
            <a:solidFill>
              <a:srgbClr val="D2472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및 내용">
  <p:cSld name="1_제목 및 내용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" type="body"/>
          </p:nvPr>
        </p:nvSpPr>
        <p:spPr>
          <a:xfrm>
            <a:off x="681038" y="1255271"/>
            <a:ext cx="8543925" cy="4921692"/>
          </a:xfrm>
          <a:prstGeom prst="rect">
            <a:avLst/>
          </a:prstGeom>
          <a:solidFill>
            <a:srgbClr val="222A35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4570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69CD6"/>
              </a:buClr>
              <a:buSzPts val="1400"/>
              <a:buAutoNum type="arabicPeriod"/>
              <a:defRPr sz="14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406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2pPr>
            <a:lvl3pPr indent="-4064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3pPr>
            <a:lvl4pPr indent="-4064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4pPr>
            <a:lvl5pPr indent="-4064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6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48" name="Google Shape;48;p26"/>
          <p:cNvCxnSpPr/>
          <p:nvPr/>
        </p:nvCxnSpPr>
        <p:spPr>
          <a:xfrm>
            <a:off x="681038" y="1087542"/>
            <a:ext cx="8543925" cy="0"/>
          </a:xfrm>
          <a:prstGeom prst="straightConnector1">
            <a:avLst/>
          </a:prstGeom>
          <a:noFill/>
          <a:ln cap="flat" cmpd="sng" w="25400">
            <a:solidFill>
              <a:srgbClr val="D2472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콘텐츠 2개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" type="body"/>
          </p:nvPr>
        </p:nvSpPr>
        <p:spPr>
          <a:xfrm>
            <a:off x="681038" y="1151169"/>
            <a:ext cx="8543924" cy="1060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2" type="body"/>
          </p:nvPr>
        </p:nvSpPr>
        <p:spPr>
          <a:xfrm>
            <a:off x="681038" y="2321634"/>
            <a:ext cx="8543925" cy="3892551"/>
          </a:xfrm>
          <a:prstGeom prst="rect">
            <a:avLst/>
          </a:prstGeom>
          <a:solidFill>
            <a:srgbClr val="222A35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4570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69CD6"/>
              </a:buClr>
              <a:buSzPts val="1400"/>
              <a:buAutoNum type="arabicPeriod"/>
              <a:defRPr sz="14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406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2pPr>
            <a:lvl3pPr indent="-4064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3pPr>
            <a:lvl4pPr indent="-4064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4pPr>
            <a:lvl5pPr indent="-4064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7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56" name="Google Shape;56;p27"/>
          <p:cNvCxnSpPr/>
          <p:nvPr/>
        </p:nvCxnSpPr>
        <p:spPr>
          <a:xfrm>
            <a:off x="681038" y="1087542"/>
            <a:ext cx="8543925" cy="0"/>
          </a:xfrm>
          <a:prstGeom prst="straightConnector1">
            <a:avLst/>
          </a:prstGeom>
          <a:noFill/>
          <a:ln cap="flat" cmpd="sng" w="25400">
            <a:solidFill>
              <a:srgbClr val="D2472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>
  <p:cSld name="콘텐츠 2개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8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" type="body"/>
          </p:nvPr>
        </p:nvSpPr>
        <p:spPr>
          <a:xfrm>
            <a:off x="681038" y="1087542"/>
            <a:ext cx="4210050" cy="50894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2" type="body"/>
          </p:nvPr>
        </p:nvSpPr>
        <p:spPr>
          <a:xfrm>
            <a:off x="5014913" y="1087542"/>
            <a:ext cx="4210050" cy="50894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28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8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64" name="Google Shape;64;p28"/>
          <p:cNvCxnSpPr/>
          <p:nvPr/>
        </p:nvCxnSpPr>
        <p:spPr>
          <a:xfrm>
            <a:off x="681038" y="1087542"/>
            <a:ext cx="8543925" cy="0"/>
          </a:xfrm>
          <a:prstGeom prst="straightConnector1">
            <a:avLst/>
          </a:prstGeom>
          <a:noFill/>
          <a:ln cap="flat" cmpd="sng" w="25400">
            <a:solidFill>
              <a:srgbClr val="D2472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콘텐츠 2개">
  <p:cSld name="1_콘텐츠 2개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" type="body"/>
          </p:nvPr>
        </p:nvSpPr>
        <p:spPr>
          <a:xfrm>
            <a:off x="681038" y="1151168"/>
            <a:ext cx="4210050" cy="50257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9"/>
          <p:cNvSpPr txBox="1"/>
          <p:nvPr>
            <p:ph idx="2" type="body"/>
          </p:nvPr>
        </p:nvSpPr>
        <p:spPr>
          <a:xfrm>
            <a:off x="5014913" y="1151168"/>
            <a:ext cx="4210050" cy="5025795"/>
          </a:xfrm>
          <a:prstGeom prst="rect">
            <a:avLst/>
          </a:prstGeom>
          <a:solidFill>
            <a:srgbClr val="222A35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4570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69CD6"/>
              </a:buClr>
              <a:buSzPts val="1400"/>
              <a:buAutoNum type="arabicPeriod"/>
              <a:defRPr sz="14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406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2pPr>
            <a:lvl3pPr indent="-4064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3pPr>
            <a:lvl4pPr indent="-4064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4pPr>
            <a:lvl5pPr indent="-4064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29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72" name="Google Shape;72;p29"/>
          <p:cNvCxnSpPr/>
          <p:nvPr/>
        </p:nvCxnSpPr>
        <p:spPr>
          <a:xfrm>
            <a:off x="681038" y="1087542"/>
            <a:ext cx="8543925" cy="0"/>
          </a:xfrm>
          <a:prstGeom prst="straightConnector1">
            <a:avLst/>
          </a:prstGeom>
          <a:noFill/>
          <a:ln cap="flat" cmpd="sng" w="25400">
            <a:solidFill>
              <a:srgbClr val="D2472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0"/>
          <p:cNvSpPr txBox="1"/>
          <p:nvPr>
            <p:ph type="title"/>
          </p:nvPr>
        </p:nvSpPr>
        <p:spPr>
          <a:xfrm>
            <a:off x="682328" y="365127"/>
            <a:ext cx="8543925" cy="682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" type="body"/>
          </p:nvPr>
        </p:nvSpPr>
        <p:spPr>
          <a:xfrm>
            <a:off x="682329" y="1271588"/>
            <a:ext cx="419070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6" name="Google Shape;76;p30"/>
          <p:cNvSpPr txBox="1"/>
          <p:nvPr>
            <p:ph idx="2" type="body"/>
          </p:nvPr>
        </p:nvSpPr>
        <p:spPr>
          <a:xfrm>
            <a:off x="682329" y="2095500"/>
            <a:ext cx="4190702" cy="4094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3" type="body"/>
          </p:nvPr>
        </p:nvSpPr>
        <p:spPr>
          <a:xfrm>
            <a:off x="5014913" y="1271588"/>
            <a:ext cx="4211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8" name="Google Shape;78;p30"/>
          <p:cNvSpPr txBox="1"/>
          <p:nvPr>
            <p:ph idx="4" type="body"/>
          </p:nvPr>
        </p:nvSpPr>
        <p:spPr>
          <a:xfrm>
            <a:off x="5014913" y="2095500"/>
            <a:ext cx="4211340" cy="4094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0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1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1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1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1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681038" y="1255271"/>
            <a:ext cx="8543925" cy="4921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4064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4064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4064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>
            <p:ph type="ctrTitle"/>
          </p:nvPr>
        </p:nvSpPr>
        <p:spPr>
          <a:xfrm>
            <a:off x="742950" y="1122363"/>
            <a:ext cx="8420100" cy="18585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lang="ko-KR" sz="4800"/>
              <a:t>WCS 화면 정의서</a:t>
            </a:r>
            <a:endParaRPr sz="4800"/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1238250" y="3410014"/>
            <a:ext cx="7429500" cy="23049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/>
              <a:t>2025년 03월 16일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/>
              <a:t>성병문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/>
              <a:t>코봇시스템(주)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675879" y="1986577"/>
            <a:ext cx="8543925" cy="10586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lang="ko-KR"/>
              <a:t>기능 정의</a:t>
            </a:r>
            <a:endParaRPr/>
          </a:p>
        </p:txBody>
      </p:sp>
      <p:sp>
        <p:nvSpPr>
          <p:cNvPr id="97" name="Google Shape;97;p2"/>
          <p:cNvSpPr txBox="1"/>
          <p:nvPr>
            <p:ph idx="1" type="body"/>
          </p:nvPr>
        </p:nvSpPr>
        <p:spPr>
          <a:xfrm>
            <a:off x="675879" y="3171039"/>
            <a:ext cx="8543925" cy="2918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/>
              <a:t> </a:t>
            </a:r>
            <a:endParaRPr/>
          </a:p>
        </p:txBody>
      </p:sp>
      <p:sp>
        <p:nvSpPr>
          <p:cNvPr id="98" name="Google Shape;98;p2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99" name="Google Shape;99;p2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100" name="Google Shape;100;p2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ko-KR"/>
              <a:t>Wheel Control System 개요</a:t>
            </a:r>
            <a:endParaRPr/>
          </a:p>
        </p:txBody>
      </p:sp>
      <p:sp>
        <p:nvSpPr>
          <p:cNvPr id="106" name="Google Shape;106;p3"/>
          <p:cNvSpPr txBox="1"/>
          <p:nvPr>
            <p:ph idx="1" type="body"/>
          </p:nvPr>
        </p:nvSpPr>
        <p:spPr>
          <a:xfrm>
            <a:off x="681038" y="1255271"/>
            <a:ext cx="8543925" cy="4921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514350" lvl="0" marL="5143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9032"/>
              <a:buAutoNum type="arabicPeriod"/>
            </a:pPr>
            <a:r>
              <a:rPr lang="ko-KR" sz="2400"/>
              <a:t>WCS</a:t>
            </a:r>
            <a:endParaRPr sz="2400"/>
          </a:p>
          <a:p>
            <a:pPr indent="-228600" lvl="1" marL="685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9032"/>
              <a:buChar char="•"/>
            </a:pPr>
            <a:r>
              <a:rPr lang="ko-KR" sz="2400"/>
              <a:t>각 바퀴 모듈(모터, 드라이버, ToF 센서 포함)을 제어 및 상태 모니터링</a:t>
            </a:r>
            <a:endParaRPr sz="2400"/>
          </a:p>
          <a:p>
            <a:pPr indent="-228600" lvl="1" marL="6858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29032"/>
              <a:buChar char="•"/>
            </a:pPr>
            <a:r>
              <a:rPr lang="ko-KR" sz="2400"/>
              <a:t>파라미터 설정 및 테스트 기능 제공 </a:t>
            </a:r>
            <a:endParaRPr sz="2400"/>
          </a:p>
          <a:p>
            <a:pPr indent="-514350" lvl="0" marL="5143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9032"/>
              <a:buAutoNum type="arabicPeriod"/>
            </a:pPr>
            <a:r>
              <a:rPr lang="ko-KR" sz="2400"/>
              <a:t>WCS</a:t>
            </a:r>
            <a:endParaRPr/>
          </a:p>
          <a:p>
            <a:pPr indent="-290513" lvl="1" marL="747713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9032"/>
              <a:buChar char="•"/>
            </a:pPr>
            <a:r>
              <a:rPr lang="ko-KR" sz="2400"/>
              <a:t>휠체어, 로봇시스템, 물류 장비 등과 인터페이스</a:t>
            </a:r>
            <a:endParaRPr/>
          </a:p>
          <a:p>
            <a:pPr indent="-290513" lvl="1" marL="747713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129032"/>
              <a:buChar char="•"/>
            </a:pPr>
            <a:r>
              <a:rPr lang="ko-KR" sz="2400"/>
              <a:t>저전력 On Device AI보드와 연동 / 안전 운행 확보</a:t>
            </a:r>
            <a:endParaRPr/>
          </a:p>
          <a:p>
            <a:pPr indent="-290513" lvl="1" marL="747713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129032"/>
              <a:buChar char="•"/>
            </a:pPr>
            <a:r>
              <a:rPr lang="ko-KR" sz="2400"/>
              <a:t>UI에서 사용자 설정으로  맞춤형 주행</a:t>
            </a:r>
            <a:endParaRPr sz="2400"/>
          </a:p>
          <a:p>
            <a:pPr indent="-514350" lvl="0" marL="5143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9032"/>
              <a:buAutoNum type="arabicPeriod"/>
            </a:pPr>
            <a:r>
              <a:rPr lang="ko-KR" sz="2400"/>
              <a:t>장치 인터페이스 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129032"/>
              <a:buChar char="•"/>
            </a:pPr>
            <a:r>
              <a:rPr lang="ko-KR" sz="2400"/>
              <a:t>Wheelchair, ROS, 물류장비</a:t>
            </a:r>
            <a:endParaRPr/>
          </a:p>
          <a:p>
            <a:pPr indent="-514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29032"/>
              <a:buAutoNum type="arabicPeriod"/>
            </a:pPr>
            <a:r>
              <a:rPr lang="ko-KR" sz="2400"/>
              <a:t>On Device AI 연동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129032"/>
              <a:buChar char="•"/>
            </a:pPr>
            <a:r>
              <a:rPr lang="ko-KR" sz="2400"/>
              <a:t>미인지 장애물 처리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129032"/>
              <a:buChar char="•"/>
            </a:pPr>
            <a:r>
              <a:rPr lang="ko-KR" sz="2400"/>
              <a:t>스마트 토크 제어 및 횡단경사제어</a:t>
            </a:r>
            <a:endParaRPr/>
          </a:p>
          <a:p>
            <a:pPr indent="-514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29032"/>
              <a:buAutoNum type="arabicPeriod"/>
            </a:pPr>
            <a:r>
              <a:rPr lang="ko-KR" sz="2400"/>
              <a:t>사용자 인터페이스 개발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129032"/>
              <a:buChar char="•"/>
            </a:pPr>
            <a:r>
              <a:rPr lang="ko-KR" sz="2400"/>
              <a:t>AI 모드 설정,  제어 설정, 장비 설정</a:t>
            </a:r>
            <a:endParaRPr sz="2400"/>
          </a:p>
        </p:txBody>
      </p:sp>
      <p:sp>
        <p:nvSpPr>
          <p:cNvPr id="107" name="Google Shape;107;p3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108" name="Google Shape;108;p3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109" name="Google Shape;109;p3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ko-KR"/>
              <a:t>WCS 기능 개요</a:t>
            </a:r>
            <a:endParaRPr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681038" y="1255271"/>
            <a:ext cx="8543925" cy="4921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ko-KR"/>
              <a:t>웹 기반으로 제어보드에서 전동휠 4개를 설정 및  모니터링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ko-KR"/>
              <a:t>4개의 바퀴를 모니터링(WebGL 사용)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/>
              <a:t>미라클 휠 3D 모델을 기반으로 urdf 작성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ko-KR"/>
              <a:t>바퀴의 각속도, 속도, 위치, ToF 센서 값에 따른 바닥 거리 표시</a:t>
            </a:r>
            <a:endParaRPr/>
          </a:p>
        </p:txBody>
      </p:sp>
      <p:sp>
        <p:nvSpPr>
          <p:cNvPr id="116" name="Google Shape;116;p6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117" name="Google Shape;117;p6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118" name="Google Shape;118;p6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2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ko-KR"/>
              <a:t>WCS 기능 정의서</a:t>
            </a:r>
            <a:endParaRPr/>
          </a:p>
        </p:txBody>
      </p:sp>
      <p:sp>
        <p:nvSpPr>
          <p:cNvPr id="124" name="Google Shape;124;p32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125" name="Google Shape;125;p32"/>
          <p:cNvSpPr txBox="1"/>
          <p:nvPr>
            <p:ph idx="11" type="ftr"/>
          </p:nvPr>
        </p:nvSpPr>
        <p:spPr>
          <a:xfrm>
            <a:off x="4070838" y="6356352"/>
            <a:ext cx="20222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126" name="Google Shape;126;p32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graphicFrame>
        <p:nvGraphicFramePr>
          <p:cNvPr id="127" name="Google Shape;127;p32"/>
          <p:cNvGraphicFramePr/>
          <p:nvPr/>
        </p:nvGraphicFramePr>
        <p:xfrm>
          <a:off x="681038" y="13243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{E27056A1-6E00-4562-AA8A-41F5505B3310}</a:tableStyleId>
              </a:tblPr>
              <a:tblGrid>
                <a:gridCol w="2378675"/>
                <a:gridCol w="5020400"/>
                <a:gridCol w="1144825"/>
              </a:tblGrid>
              <a:tr h="380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cap="none" strike="noStrike"/>
                        <a:t>화면명</a:t>
                      </a:r>
                      <a:endParaRPr sz="16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cap="none" strike="noStrike"/>
                        <a:t>기능</a:t>
                      </a:r>
                      <a:endParaRPr sz="16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cap="none" strike="noStrike"/>
                        <a:t>비고</a:t>
                      </a:r>
                      <a:endParaRPr sz="1600" u="none" cap="none" strike="noStrike"/>
                    </a:p>
                  </a:txBody>
                  <a:tcPr marT="45725" marB="45725" marR="91450" marL="91450" anchor="ctr"/>
                </a:tc>
              </a:tr>
              <a:tr h="380350">
                <a:tc row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cap="none" strike="noStrike"/>
                        <a:t>바퀴 상태 표출 화면</a:t>
                      </a:r>
                      <a:endParaRPr sz="16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228600" lvl="1" marL="290513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ko-KR" sz="1600" u="none" cap="none" strike="noStrike"/>
                        <a:t>현재 속도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 anchor="ctr"/>
                </a:tc>
              </a:tr>
              <a:tr h="380350">
                <a:tc vMerge="1"/>
                <a:tc>
                  <a:txBody>
                    <a:bodyPr/>
                    <a:lstStyle/>
                    <a:p>
                      <a:pPr indent="-228600" lvl="1" marL="290513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ko-KR" sz="1600" u="none" cap="none" strike="noStrike"/>
                        <a:t>토크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 anchor="ctr"/>
                </a:tc>
              </a:tr>
              <a:tr h="380350">
                <a:tc vMerge="1"/>
                <a:tc>
                  <a:txBody>
                    <a:bodyPr/>
                    <a:lstStyle/>
                    <a:p>
                      <a:pPr indent="-228600" lvl="1" marL="290513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ko-KR" sz="1600" u="none" cap="none" strike="noStrike"/>
                        <a:t>ToF 센서 값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 anchor="ctr"/>
                </a:tc>
              </a:tr>
              <a:tr h="380350">
                <a:tc vMerge="1"/>
                <a:tc>
                  <a:txBody>
                    <a:bodyPr/>
                    <a:lstStyle/>
                    <a:p>
                      <a:pPr indent="-228600" lvl="1" marL="290513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ko-KR" sz="1600" u="none" cap="none" strike="noStrike"/>
                        <a:t>주행중인 노면 상태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 anchor="ctr"/>
                </a:tc>
              </a:tr>
              <a:tr h="380350">
                <a:tc vMerge="1"/>
                <a:tc>
                  <a:txBody>
                    <a:bodyPr/>
                    <a:lstStyle/>
                    <a:p>
                      <a:pPr indent="-228600" lvl="1" marL="290513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ko-KR" sz="1600" u="none" cap="none" strike="noStrike"/>
                        <a:t>배터리 잔량</a:t>
                      </a:r>
                      <a:endParaRPr sz="16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 anchor="ctr"/>
                </a:tc>
              </a:tr>
              <a:tr h="380350">
                <a:tc row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cap="none" strike="noStrike"/>
                        <a:t>바퀴 설정 화면</a:t>
                      </a:r>
                      <a:endParaRPr sz="16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228600" lvl="1" marL="290513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ko-KR" sz="1600" u="none" cap="none" strike="noStrike"/>
                        <a:t>바퀴 RS485 주소 변경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 anchor="ctr"/>
                </a:tc>
              </a:tr>
              <a:tr h="380350">
                <a:tc vMerge="1"/>
                <a:tc>
                  <a:txBody>
                    <a:bodyPr/>
                    <a:lstStyle/>
                    <a:p>
                      <a:pPr indent="-228600" lvl="1" marL="290513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ko-KR" sz="1600" u="none" cap="none" strike="noStrike"/>
                        <a:t>바퀴 위치 설정 (전후좌우)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 anchor="ctr"/>
                </a:tc>
              </a:tr>
              <a:tr h="380350">
                <a:tc vMerge="1"/>
                <a:tc>
                  <a:txBody>
                    <a:bodyPr/>
                    <a:lstStyle/>
                    <a:p>
                      <a:pPr indent="-228600" lvl="1" marL="290513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ko-KR" sz="1600" u="none" cap="none" strike="noStrike"/>
                        <a:t>최고 속도 설정</a:t>
                      </a:r>
                      <a:endParaRPr sz="16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 anchor="ctr"/>
                </a:tc>
              </a:tr>
              <a:tr h="380350">
                <a:tc vMerge="1"/>
                <a:tc>
                  <a:txBody>
                    <a:bodyPr/>
                    <a:lstStyle/>
                    <a:p>
                      <a:pPr indent="-228600" lvl="1" marL="290513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ko-KR" sz="1600" u="none" cap="none" strike="noStrike"/>
                        <a:t>PID gain 값 설정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 anchor="ctr"/>
                </a:tc>
              </a:tr>
              <a:tr h="380350">
                <a:tc vMerge="1"/>
                <a:tc>
                  <a:txBody>
                    <a:bodyPr/>
                    <a:lstStyle/>
                    <a:p>
                      <a:pPr indent="-228600" lvl="1" marL="290513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ko-KR" sz="1600" u="none" cap="none" strike="noStrike"/>
                        <a:t>ToF 센서 캘리브레이션</a:t>
                      </a:r>
                      <a:endParaRPr sz="16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 anchor="ctr"/>
                </a:tc>
              </a:tr>
              <a:tr h="38035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cap="none" strike="noStrike"/>
                        <a:t>테스트 화면</a:t>
                      </a:r>
                      <a:endParaRPr sz="16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228600" lvl="1" marL="290513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ko-KR" sz="1600" u="none" cap="none" strike="noStrike"/>
                        <a:t>개별 모터 동작 테스트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 anchor="ctr"/>
                </a:tc>
              </a:tr>
              <a:tr h="380350">
                <a:tc vMerge="1"/>
                <a:tc>
                  <a:txBody>
                    <a:bodyPr/>
                    <a:lstStyle/>
                    <a:p>
                      <a:pPr indent="-228600" lvl="1" marL="290513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ko-KR" sz="1600" u="none" cap="none" strike="noStrike"/>
                        <a:t>모터 4개 직진 후진, 축 회전 테스트</a:t>
                      </a:r>
                      <a:endParaRPr sz="16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/>
          <p:nvPr>
            <p:ph type="title"/>
          </p:nvPr>
        </p:nvSpPr>
        <p:spPr>
          <a:xfrm>
            <a:off x="675879" y="1986577"/>
            <a:ext cx="8543925" cy="10586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lang="ko-KR"/>
              <a:t>화면 정의</a:t>
            </a:r>
            <a:endParaRPr/>
          </a:p>
        </p:txBody>
      </p:sp>
      <p:sp>
        <p:nvSpPr>
          <p:cNvPr id="133" name="Google Shape;133;p8"/>
          <p:cNvSpPr txBox="1"/>
          <p:nvPr>
            <p:ph idx="1" type="body"/>
          </p:nvPr>
        </p:nvSpPr>
        <p:spPr>
          <a:xfrm>
            <a:off x="675879" y="3171039"/>
            <a:ext cx="8543925" cy="2918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/>
              <a:t> </a:t>
            </a:r>
            <a:endParaRPr/>
          </a:p>
        </p:txBody>
      </p:sp>
      <p:sp>
        <p:nvSpPr>
          <p:cNvPr id="134" name="Google Shape;134;p8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135" name="Google Shape;135;p8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136" name="Google Shape;136;p8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ko-KR" sz="3200"/>
              <a:t>바퀴 상태 모니터 화면 (Monitoring Screen)</a:t>
            </a:r>
            <a:endParaRPr/>
          </a:p>
        </p:txBody>
      </p:sp>
      <p:sp>
        <p:nvSpPr>
          <p:cNvPr id="142" name="Google Shape;142;p10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143" name="Google Shape;143;p10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144" name="Google Shape;144;p10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graphicFrame>
        <p:nvGraphicFramePr>
          <p:cNvPr id="145" name="Google Shape;145;p10"/>
          <p:cNvGraphicFramePr/>
          <p:nvPr/>
        </p:nvGraphicFramePr>
        <p:xfrm>
          <a:off x="681037" y="38085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{E27056A1-6E00-4562-AA8A-41F5505B3310}</a:tableStyleId>
              </a:tblPr>
              <a:tblGrid>
                <a:gridCol w="2310725"/>
                <a:gridCol w="6233175"/>
              </a:tblGrid>
              <a:tr h="424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ko-KR" sz="1800" u="none" cap="none" strike="noStrike"/>
                        <a:t>표시 항목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ko-KR" sz="1800" u="none" cap="none" strike="noStrike"/>
                        <a:t>기능 정의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424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ko-KR" sz="1800" u="none" cap="none" strike="noStrike"/>
                        <a:t>현재 속도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ko-KR" sz="1800" u="none" cap="none" strike="noStrike"/>
                        <a:t>전체 주행 속도 (m/s 또는 km/h)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424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ko-KR" sz="1800" u="none" cap="none" strike="noStrike"/>
                        <a:t>각 바퀴 토크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ko-KR" sz="1800" u="none" cap="none" strike="noStrike"/>
                        <a:t>FL, FR, RL, RR 개별 토크 값 (Nm)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424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ko-KR" sz="1800" u="none" cap="none" strike="noStrike"/>
                        <a:t>ToF 센서 값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ko-KR" sz="1800" u="none" cap="none" strike="noStrike"/>
                        <a:t>노면 거리 값 (mm)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424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ko-KR" sz="1800" u="none" cap="none" strike="noStrike"/>
                        <a:t>노면 상태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ko-KR" sz="1800" u="none" cap="none" strike="noStrike"/>
                        <a:t>ToF 기반 노면 분류 (평지/단차/경사/장애물)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424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ko-KR" sz="1800" u="none" cap="none" strike="noStrike"/>
                        <a:t>배터리 잔량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ko-KR" sz="1800" u="none" cap="none" strike="noStrike"/>
                        <a:t>SoC(%) 및 전압 표시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46" name="Google Shape;146;p10"/>
          <p:cNvSpPr txBox="1"/>
          <p:nvPr>
            <p:ph idx="1" type="body"/>
          </p:nvPr>
        </p:nvSpPr>
        <p:spPr>
          <a:xfrm>
            <a:off x="681038" y="1255271"/>
            <a:ext cx="8543925" cy="2380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ko-KR" sz="2000"/>
              <a:t>목적 : 실시간 주행 상태 및 바퀴 상태 모니터링</a:t>
            </a:r>
            <a:endParaRPr sz="2000"/>
          </a:p>
          <a:p>
            <a:pPr indent="-514350" lvl="0" marL="5143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ko-KR" sz="2000"/>
              <a:t>기능 요구사항</a:t>
            </a:r>
            <a:endParaRPr sz="2000"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50~100ms 주기 업데이트</a:t>
            </a:r>
            <a:endParaRPr sz="2000"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통신 오류 시 경고 표시</a:t>
            </a:r>
            <a:endParaRPr sz="2000"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토크 이상 시 경고 색상 표시</a:t>
            </a:r>
            <a:endParaRPr sz="2000"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저전압 시 알람 발생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ko-KR"/>
              <a:t>바퀴 상태 모니터 화면</a:t>
            </a:r>
            <a:endParaRPr/>
          </a:p>
        </p:txBody>
      </p:sp>
      <p:pic>
        <p:nvPicPr>
          <p:cNvPr id="152" name="Google Shape;152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6968" y="1386899"/>
            <a:ext cx="5972100" cy="453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9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154" name="Google Shape;154;p9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155" name="Google Shape;155;p9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3268375" y="4724825"/>
            <a:ext cx="7377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4165500" y="4724825"/>
            <a:ext cx="7377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5062625" y="4724825"/>
            <a:ext cx="7377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5959750" y="4684950"/>
            <a:ext cx="737700" cy="66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e0a05f310_1_0"/>
          <p:cNvSpPr txBox="1"/>
          <p:nvPr>
            <p:ph type="title"/>
          </p:nvPr>
        </p:nvSpPr>
        <p:spPr>
          <a:xfrm>
            <a:off x="1897199" y="365125"/>
            <a:ext cx="76323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ko-KR"/>
              <a:t>바퀴 상태 모니터 화면</a:t>
            </a:r>
            <a:endParaRPr/>
          </a:p>
        </p:txBody>
      </p:sp>
      <p:pic>
        <p:nvPicPr>
          <p:cNvPr id="165" name="Google Shape;165;g3ce0a05f310_1_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7200" y="1287975"/>
            <a:ext cx="5151300" cy="462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ce0a05f310_1_0"/>
          <p:cNvSpPr txBox="1"/>
          <p:nvPr>
            <p:ph idx="10" type="dt"/>
          </p:nvPr>
        </p:nvSpPr>
        <p:spPr>
          <a:xfrm>
            <a:off x="681038" y="6356352"/>
            <a:ext cx="1162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167" name="Google Shape;167;g3ce0a05f310_1_0"/>
          <p:cNvSpPr txBox="1"/>
          <p:nvPr>
            <p:ph idx="11" type="ftr"/>
          </p:nvPr>
        </p:nvSpPr>
        <p:spPr>
          <a:xfrm>
            <a:off x="3281363" y="6356352"/>
            <a:ext cx="33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168" name="Google Shape;168;g3ce0a05f310_1_0"/>
          <p:cNvSpPr txBox="1"/>
          <p:nvPr>
            <p:ph idx="12" type="sldNum"/>
          </p:nvPr>
        </p:nvSpPr>
        <p:spPr>
          <a:xfrm>
            <a:off x="8739554" y="6356352"/>
            <a:ext cx="485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69" name="Google Shape;169;g3ce0a05f310_1_0"/>
          <p:cNvSpPr/>
          <p:nvPr/>
        </p:nvSpPr>
        <p:spPr>
          <a:xfrm>
            <a:off x="328929" y="1317399"/>
            <a:ext cx="1360025" cy="48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자갈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g3ce0a05f310_1_0"/>
          <p:cNvSpPr/>
          <p:nvPr/>
        </p:nvSpPr>
        <p:spPr>
          <a:xfrm>
            <a:off x="328929" y="2138434"/>
            <a:ext cx="1360025" cy="48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미끄러운 노면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g3ce0a05f310_1_0"/>
          <p:cNvSpPr/>
          <p:nvPr/>
        </p:nvSpPr>
        <p:spPr>
          <a:xfrm>
            <a:off x="328929" y="2959469"/>
            <a:ext cx="1360025" cy="48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홀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g3ce0a05f310_1_0"/>
          <p:cNvSpPr/>
          <p:nvPr/>
        </p:nvSpPr>
        <p:spPr>
          <a:xfrm>
            <a:off x="328929" y="3780504"/>
            <a:ext cx="1360025" cy="48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장애물1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g3ce0a05f310_1_0"/>
          <p:cNvSpPr/>
          <p:nvPr/>
        </p:nvSpPr>
        <p:spPr>
          <a:xfrm>
            <a:off x="328929" y="4601539"/>
            <a:ext cx="1360025" cy="48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장애물2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g3ce0a05f310_1_0"/>
          <p:cNvSpPr/>
          <p:nvPr/>
        </p:nvSpPr>
        <p:spPr>
          <a:xfrm>
            <a:off x="328929" y="5422575"/>
            <a:ext cx="1360025" cy="48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장애물3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g3ce0a05f310_1_0"/>
          <p:cNvSpPr/>
          <p:nvPr/>
        </p:nvSpPr>
        <p:spPr>
          <a:xfrm>
            <a:off x="7196925" y="1287975"/>
            <a:ext cx="2229000" cy="48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노면상태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g3ce0a05f310_1_0"/>
          <p:cNvSpPr/>
          <p:nvPr/>
        </p:nvSpPr>
        <p:spPr>
          <a:xfrm>
            <a:off x="7196925" y="1846463"/>
            <a:ext cx="2229000" cy="12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g3ce0a05f310_1_0"/>
          <p:cNvSpPr/>
          <p:nvPr/>
        </p:nvSpPr>
        <p:spPr>
          <a:xfrm>
            <a:off x="7196925" y="3899600"/>
            <a:ext cx="2229000" cy="48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제어상태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g3ce0a05f310_1_0"/>
          <p:cNvSpPr/>
          <p:nvPr/>
        </p:nvSpPr>
        <p:spPr>
          <a:xfrm>
            <a:off x="7196925" y="4467775"/>
            <a:ext cx="2229000" cy="1443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g3ce0a05f310_1_0"/>
          <p:cNvSpPr/>
          <p:nvPr/>
        </p:nvSpPr>
        <p:spPr>
          <a:xfrm>
            <a:off x="2050045" y="6002957"/>
            <a:ext cx="1162500" cy="48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배터리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g3ce0a05f310_1_0"/>
          <p:cNvSpPr/>
          <p:nvPr/>
        </p:nvSpPr>
        <p:spPr>
          <a:xfrm>
            <a:off x="3844146" y="6001775"/>
            <a:ext cx="1162500" cy="48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속도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g3ce0a05f310_1_0"/>
          <p:cNvSpPr/>
          <p:nvPr/>
        </p:nvSpPr>
        <p:spPr>
          <a:xfrm>
            <a:off x="5725558" y="6001775"/>
            <a:ext cx="1162500" cy="48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경사도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ko-KR" sz="3200"/>
              <a:t>바퀴 설정 화면 (Configuration Screen) (1/2)</a:t>
            </a:r>
            <a:endParaRPr/>
          </a:p>
        </p:txBody>
      </p:sp>
      <p:sp>
        <p:nvSpPr>
          <p:cNvPr id="187" name="Google Shape;187;p12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188" name="Google Shape;188;p12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189" name="Google Shape;189;p12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90" name="Google Shape;190;p12"/>
          <p:cNvSpPr txBox="1"/>
          <p:nvPr>
            <p:ph idx="1" type="body"/>
          </p:nvPr>
        </p:nvSpPr>
        <p:spPr>
          <a:xfrm>
            <a:off x="681038" y="1255271"/>
            <a:ext cx="8543925" cy="49413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514350" lvl="0" marL="5143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ko-KR" sz="2000"/>
              <a:t>목적 : 각 바퀴 노드의 제어 파라미터 설정</a:t>
            </a:r>
            <a:endParaRPr sz="2000"/>
          </a:p>
          <a:p>
            <a:pPr indent="-514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ko-KR" sz="2000"/>
              <a:t>바퀴 RS485 주소 변경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2000"/>
              <a:t>각 Wheel Node 고유 ID 설정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2000"/>
              <a:t>주소 충돌 감지 기능</a:t>
            </a:r>
            <a:endParaRPr sz="2000"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2000"/>
              <a:t>변경 후 재부팅 적용</a:t>
            </a:r>
            <a:endParaRPr/>
          </a:p>
          <a:p>
            <a:pPr indent="-514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ko-KR" sz="2000"/>
              <a:t>바퀴 위치 설정</a:t>
            </a:r>
            <a:endParaRPr sz="2000"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2000"/>
              <a:t>위치 옵션 :Front Left, Front Right, Rear Left, Rear Right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2000"/>
              <a:t>위치 설정 시 내부 제어 방향 자동 매핑</a:t>
            </a:r>
            <a:endParaRPr sz="2000"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2000"/>
              <a:t>방향 반전 옵션 포함</a:t>
            </a:r>
            <a:endParaRPr sz="2000"/>
          </a:p>
          <a:p>
            <a:pPr indent="-514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ko-KR" sz="2000"/>
              <a:t>최고 속도 설정</a:t>
            </a:r>
            <a:endParaRPr sz="2000"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2000"/>
              <a:t>각 바퀴별 또는 전체 공통 설정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2000"/>
              <a:t>제한 범위: 0 ~ Max_System_Speed </a:t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ko-KR" sz="3200"/>
              <a:t>바퀴 설정 화면 (Configuration Screen) (2/2)</a:t>
            </a:r>
            <a:endParaRPr/>
          </a:p>
        </p:txBody>
      </p:sp>
      <p:sp>
        <p:nvSpPr>
          <p:cNvPr id="196" name="Google Shape;196;p13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197" name="Google Shape;197;p13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198" name="Google Shape;198;p13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99" name="Google Shape;199;p13"/>
          <p:cNvSpPr txBox="1"/>
          <p:nvPr>
            <p:ph idx="1" type="body"/>
          </p:nvPr>
        </p:nvSpPr>
        <p:spPr>
          <a:xfrm>
            <a:off x="681038" y="1255271"/>
            <a:ext cx="8543925" cy="49413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5"/>
            </a:pPr>
            <a:r>
              <a:rPr lang="ko-KR" sz="2000"/>
              <a:t> PID Gain 설정</a:t>
            </a:r>
            <a:endParaRPr sz="2000"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Speed PID : Kp, Ki, Kd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Torque PID (옵션)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실시간 튜닝 모드 지원</a:t>
            </a:r>
            <a:endParaRPr sz="2000"/>
          </a:p>
          <a:p>
            <a:pPr indent="-514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 startAt="5"/>
            </a:pPr>
            <a:r>
              <a:rPr lang="ko-KR" sz="2000"/>
              <a:t>ToF 센서 캘리브레이션</a:t>
            </a:r>
            <a:endParaRPr sz="2000"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Zero offset calibration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Ground reference calibration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노면 기준 거리 저장</a:t>
            </a:r>
            <a:endParaRPr sz="2000"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캘리브레이션 데이터 저장</a:t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ko-KR"/>
              <a:t>바퀴 설정 화면</a:t>
            </a:r>
            <a:endParaRPr/>
          </a:p>
        </p:txBody>
      </p:sp>
      <p:pic>
        <p:nvPicPr>
          <p:cNvPr id="205" name="Google Shape;205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6898" y="1635739"/>
            <a:ext cx="5452204" cy="4161197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1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207" name="Google Shape;207;p11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208" name="Google Shape;208;p11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ko-KR"/>
              <a:t>바퀴 테스트 화면 (Test Screen)</a:t>
            </a:r>
            <a:endParaRPr/>
          </a:p>
        </p:txBody>
      </p:sp>
      <p:sp>
        <p:nvSpPr>
          <p:cNvPr id="214" name="Google Shape;214;p15"/>
          <p:cNvSpPr txBox="1"/>
          <p:nvPr>
            <p:ph idx="1" type="body"/>
          </p:nvPr>
        </p:nvSpPr>
        <p:spPr>
          <a:xfrm>
            <a:off x="681038" y="1255271"/>
            <a:ext cx="8543925" cy="4921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ko-KR" sz="2400"/>
              <a:t>목적 : 설치 및 유지보수 시 모터 및 구동 기능 점검</a:t>
            </a:r>
            <a:endParaRPr sz="2400"/>
          </a:p>
          <a:p>
            <a:pPr indent="-514350" lvl="0" marL="5143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ko-KR" sz="2400"/>
              <a:t>개별 모터 테스트</a:t>
            </a:r>
            <a:endParaRPr sz="2400"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/>
              <a:t>FL / FR / RL / RR 개별 구동</a:t>
            </a:r>
            <a:endParaRPr sz="2400"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/>
              <a:t>속도 단계별 테스트</a:t>
            </a:r>
            <a:endParaRPr sz="2400"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/>
              <a:t>토크 출력 확인</a:t>
            </a:r>
            <a:endParaRPr sz="2400"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/>
              <a:t>엔코더 피드백 확인</a:t>
            </a:r>
            <a:endParaRPr sz="2400"/>
          </a:p>
          <a:p>
            <a:pPr indent="-514350" lvl="0" marL="5143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ko-KR" sz="2400"/>
              <a:t>4개 모터 동작 테스트</a:t>
            </a:r>
            <a:endParaRPr sz="2400"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/>
              <a:t>직진 : 4개 동일 속도 전진</a:t>
            </a:r>
            <a:endParaRPr sz="2400"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/>
              <a:t>후진 : 4개 동일 속도 후진</a:t>
            </a:r>
            <a:endParaRPr sz="2400"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/>
              <a:t>제자리 회전 : 좌우 차속 차이 이용</a:t>
            </a:r>
            <a:endParaRPr sz="2400"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/>
              <a:t>회전 : 중심축 기준 회전</a:t>
            </a:r>
            <a:endParaRPr sz="2400"/>
          </a:p>
          <a:p>
            <a:pPr indent="-361950" lvl="0" marL="5143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15" name="Google Shape;215;p15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216" name="Google Shape;216;p15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217" name="Google Shape;217;p15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ko-KR"/>
              <a:t>바퀴 테스트 화면</a:t>
            </a:r>
            <a:endParaRPr/>
          </a:p>
        </p:txBody>
      </p:sp>
      <p:pic>
        <p:nvPicPr>
          <p:cNvPr id="223" name="Google Shape;223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5371" y="1653030"/>
            <a:ext cx="5475258" cy="412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4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225" name="Google Shape;225;p14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226" name="Google Shape;226;p14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6"/>
          <p:cNvSpPr txBox="1"/>
          <p:nvPr>
            <p:ph type="title"/>
          </p:nvPr>
        </p:nvSpPr>
        <p:spPr>
          <a:xfrm>
            <a:off x="675879" y="1986577"/>
            <a:ext cx="8543925" cy="10586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lang="ko-KR"/>
              <a:t>참고</a:t>
            </a:r>
            <a:endParaRPr/>
          </a:p>
        </p:txBody>
      </p:sp>
      <p:sp>
        <p:nvSpPr>
          <p:cNvPr id="232" name="Google Shape;232;p16"/>
          <p:cNvSpPr txBox="1"/>
          <p:nvPr>
            <p:ph idx="1" type="body"/>
          </p:nvPr>
        </p:nvSpPr>
        <p:spPr>
          <a:xfrm>
            <a:off x="675879" y="3171039"/>
            <a:ext cx="8543925" cy="2918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/>
              <a:t>참고 자료</a:t>
            </a:r>
            <a:endParaRPr/>
          </a:p>
        </p:txBody>
      </p:sp>
      <p:sp>
        <p:nvSpPr>
          <p:cNvPr id="233" name="Google Shape;233;p16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234" name="Google Shape;234;p16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235" name="Google Shape;235;p16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ko-KR"/>
              <a:t>Wheel Control System</a:t>
            </a:r>
            <a:endParaRPr/>
          </a:p>
        </p:txBody>
      </p:sp>
      <p:sp>
        <p:nvSpPr>
          <p:cNvPr id="241" name="Google Shape;241;p17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242" name="Google Shape;242;p17"/>
          <p:cNvSpPr txBox="1"/>
          <p:nvPr>
            <p:ph idx="11" type="ftr"/>
          </p:nvPr>
        </p:nvSpPr>
        <p:spPr>
          <a:xfrm>
            <a:off x="4070838" y="6356352"/>
            <a:ext cx="20222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243" name="Google Shape;243;p17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244" name="Google Shape;2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1591" y="1340047"/>
            <a:ext cx="6302818" cy="5016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3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ko-KR"/>
              <a:t>Wheel Control System : </a:t>
            </a:r>
            <a:r>
              <a:rPr b="0" lang="ko-KR">
                <a:latin typeface="Calibri"/>
                <a:ea typeface="Calibri"/>
                <a:cs typeface="Calibri"/>
                <a:sym typeface="Calibri"/>
              </a:rPr>
              <a:t>세부 화면</a:t>
            </a:r>
            <a:endParaRPr/>
          </a:p>
        </p:txBody>
      </p:sp>
      <p:sp>
        <p:nvSpPr>
          <p:cNvPr id="250" name="Google Shape;250;p33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251" name="Google Shape;251;p33"/>
          <p:cNvSpPr txBox="1"/>
          <p:nvPr>
            <p:ph idx="11" type="ftr"/>
          </p:nvPr>
        </p:nvSpPr>
        <p:spPr>
          <a:xfrm>
            <a:off x="4070838" y="6356352"/>
            <a:ext cx="20222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252" name="Google Shape;252;p33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grpSp>
        <p:nvGrpSpPr>
          <p:cNvPr id="253" name="Google Shape;253;p33"/>
          <p:cNvGrpSpPr/>
          <p:nvPr/>
        </p:nvGrpSpPr>
        <p:grpSpPr>
          <a:xfrm>
            <a:off x="2413991" y="1544294"/>
            <a:ext cx="5078017" cy="4548738"/>
            <a:chOff x="3153208" y="2490955"/>
            <a:chExt cx="3466920" cy="2889576"/>
          </a:xfrm>
        </p:grpSpPr>
        <p:pic>
          <p:nvPicPr>
            <p:cNvPr id="254" name="Google Shape;254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53208" y="2490955"/>
              <a:ext cx="3466918" cy="1454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53208" y="3945200"/>
              <a:ext cx="3466920" cy="143533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4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ko-KR"/>
              <a:t>Wheel Control System : </a:t>
            </a:r>
            <a:r>
              <a:rPr b="0" lang="ko-KR">
                <a:latin typeface="Calibri"/>
                <a:ea typeface="Calibri"/>
                <a:cs typeface="Calibri"/>
                <a:sym typeface="Calibri"/>
              </a:rPr>
              <a:t>3D 모션 설정</a:t>
            </a:r>
            <a:endParaRPr/>
          </a:p>
        </p:txBody>
      </p:sp>
      <p:sp>
        <p:nvSpPr>
          <p:cNvPr id="261" name="Google Shape;261;p34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262" name="Google Shape;262;p34"/>
          <p:cNvSpPr txBox="1"/>
          <p:nvPr>
            <p:ph idx="11" type="ftr"/>
          </p:nvPr>
        </p:nvSpPr>
        <p:spPr>
          <a:xfrm>
            <a:off x="4070838" y="6356352"/>
            <a:ext cx="20222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263" name="Google Shape;263;p34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264" name="Google Shape;26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3497" y="1389192"/>
            <a:ext cx="5739006" cy="4721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8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ko-KR"/>
              <a:t>WCS 주요 기능</a:t>
            </a:r>
            <a:endParaRPr/>
          </a:p>
        </p:txBody>
      </p:sp>
      <p:sp>
        <p:nvSpPr>
          <p:cNvPr id="270" name="Google Shape;270;p18"/>
          <p:cNvSpPr txBox="1"/>
          <p:nvPr>
            <p:ph idx="1" type="body"/>
          </p:nvPr>
        </p:nvSpPr>
        <p:spPr>
          <a:xfrm>
            <a:off x="681038" y="1255271"/>
            <a:ext cx="8543925" cy="4921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ko-KR" sz="2000"/>
              <a:t>센서 데이터 융합 처리 기술을 위한 Sensor Setting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Kalman Filter로 여러 센서 데이터를 통합하여 노이즈 제거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노면 데이터를 바탕으로 RNN이 노이즈를 학습하고 이를 칼만 필터의 업데이트 단계에 반영.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MPU-6050(IMU센서), Magnetic Encoder, ToF, Current Sensor 사용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ko-KR" sz="2000"/>
              <a:t>노면상태 예측을 통한 최적 제어 엑추에이터 설정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LSTM: 시계열 데이터(IMU, 엔코더)를 활용한 노면 예측.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노면 상태를 실시간으로 분류 (예: 평지, 젖은 노면, 얼음, 경사 등).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마찰 계수 μ를 예측하여 바퀴의 미끄럼 여부를 감지.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엑추에이터 최적 제어에 사용</a:t>
            </a:r>
            <a:endParaRPr/>
          </a:p>
          <a:p>
            <a:pPr indent="-387350" lvl="0" marL="5143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271" name="Google Shape;271;p18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272" name="Google Shape;272;p18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273" name="Google Shape;273;p18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9"/>
          <p:cNvSpPr txBox="1"/>
          <p:nvPr>
            <p:ph type="title"/>
          </p:nvPr>
        </p:nvSpPr>
        <p:spPr>
          <a:xfrm>
            <a:off x="681038" y="365128"/>
            <a:ext cx="8543925" cy="722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ko-KR"/>
              <a:t>WCS 핵심 기능</a:t>
            </a:r>
            <a:endParaRPr/>
          </a:p>
        </p:txBody>
      </p:sp>
      <p:sp>
        <p:nvSpPr>
          <p:cNvPr id="279" name="Google Shape;279;p19"/>
          <p:cNvSpPr txBox="1"/>
          <p:nvPr>
            <p:ph idx="1" type="body"/>
          </p:nvPr>
        </p:nvSpPr>
        <p:spPr>
          <a:xfrm>
            <a:off x="681038" y="1255271"/>
            <a:ext cx="8543925" cy="4921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ko-KR" sz="2000"/>
              <a:t>AI 횡단경사로 균형 유지 제어 기술이 적용된 AI 주행모드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8도 이상 횡단경사로 주행 시 전복 위험이 높음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GRU(Gated Recurrent Unit)를 사용하여 시계열 데이터를 기반으로 전복 위험성을 예측.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횡단경사로 환경을 실시간으로 AI가 동작하여 전복 시 전복방향으로 제자리 회전하여 전복을 방지하는 기술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ko-KR" sz="2000"/>
              <a:t>미인지 장애물 극복 제어기술을 위한 Sensor Fusion기술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장애물 감지 센서가 고장 나거나 데이터를 제공하지 못하는 경우 AI가 다른 센서 데이터를 활용하여 예측하는 기술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/>
              <a:t>Kalman Filter를 사용하여 예측 값과 실제 측정값의 차이(잔차, Residual)가 크거나 일정 패턴을 벗어나는 경우, 측정 데이터를 융합하여 상태를 추정</a:t>
            </a:r>
            <a:endParaRPr/>
          </a:p>
          <a:p>
            <a:pPr indent="-387350" lvl="0" marL="5143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280" name="Google Shape;280;p19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281" name="Google Shape;281;p19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WCS 화면정의서</a:t>
            </a:r>
            <a:endParaRPr/>
          </a:p>
        </p:txBody>
      </p:sp>
      <p:sp>
        <p:nvSpPr>
          <p:cNvPr id="282" name="Google Shape;282;p19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0"/>
          <p:cNvSpPr txBox="1"/>
          <p:nvPr>
            <p:ph type="title"/>
          </p:nvPr>
        </p:nvSpPr>
        <p:spPr>
          <a:xfrm>
            <a:off x="681038" y="234339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ko-KR"/>
              <a:t>끝.</a:t>
            </a:r>
            <a:endParaRPr/>
          </a:p>
        </p:txBody>
      </p:sp>
      <p:sp>
        <p:nvSpPr>
          <p:cNvPr id="288" name="Google Shape;288;p20"/>
          <p:cNvSpPr txBox="1"/>
          <p:nvPr>
            <p:ph idx="12" type="sldNum"/>
          </p:nvPr>
        </p:nvSpPr>
        <p:spPr>
          <a:xfrm>
            <a:off x="8739554" y="6356352"/>
            <a:ext cx="4854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89" name="Google Shape;289;p20"/>
          <p:cNvSpPr txBox="1"/>
          <p:nvPr>
            <p:ph idx="10" type="dt"/>
          </p:nvPr>
        </p:nvSpPr>
        <p:spPr>
          <a:xfrm>
            <a:off x="681038" y="6356352"/>
            <a:ext cx="1162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2026-03-05</a:t>
            </a:r>
            <a:endParaRPr/>
          </a:p>
        </p:txBody>
      </p:sp>
      <p:sp>
        <p:nvSpPr>
          <p:cNvPr id="290" name="Google Shape;290;p20"/>
          <p:cNvSpPr txBox="1"/>
          <p:nvPr>
            <p:ph idx="11" type="ftr"/>
          </p:nvPr>
        </p:nvSpPr>
        <p:spPr>
          <a:xfrm>
            <a:off x="4070838" y="6356352"/>
            <a:ext cx="20222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WCS 화면정의서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2018-03-04T04:23:51Z</dcterms:created>
  <dc:creator>admin</dc:creator>
</cp:coreProperties>
</file>